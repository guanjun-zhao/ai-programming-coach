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hyperlink" Target="https://v.wjx.cn/vm/rWUcsmW.aspx#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40295" y="1111366"/>
            <a:ext cx="11508105" cy="2628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8300" indent="-356235" algn="l" rtl="0" eaLnBrk="0">
              <a:lnSpc>
                <a:spcPct val="96000"/>
              </a:lnSpc>
            </a:pPr>
            <a:r>
              <a:rPr sz="31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31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b="1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大作业实现一个带界面的综合性项目，组队进行，提交报告</a:t>
            </a:r>
            <a:r>
              <a:rPr sz="31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3100" b="1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代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码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演示视频，优秀项目进行路演</a:t>
            </a:r>
            <a:endParaRPr sz="31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1115"/>
              </a:spcBef>
            </a:pPr>
            <a:r>
              <a:rPr sz="3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两种语言：使用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C++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或</a:t>
            </a:r>
            <a:r>
              <a:rPr sz="31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Python</a:t>
            </a:r>
            <a:r>
              <a:rPr sz="3100" b="1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来完成，二选一</a:t>
            </a:r>
            <a:endParaRPr sz="31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1005"/>
              </a:spcBef>
            </a:pPr>
            <a:r>
              <a:rPr sz="31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3100" b="1" kern="0" spc="1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两个赛道：生活工具</a:t>
            </a:r>
            <a:r>
              <a:rPr sz="3100" b="1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3100" b="1" kern="0" spc="1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游戏；元学习</a:t>
            </a:r>
            <a:r>
              <a:rPr sz="3100" b="1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3100" b="1" kern="0" spc="1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学习程设的工具</a:t>
            </a:r>
            <a:r>
              <a:rPr sz="3100" b="1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3100" b="1" kern="0" spc="1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游戏</a:t>
            </a:r>
            <a:r>
              <a:rPr sz="3100" b="1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3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46655" algn="l" rtl="0" eaLnBrk="0">
              <a:lnSpc>
                <a:spcPct val="90000"/>
              </a:lnSpc>
            </a:pPr>
            <a:r>
              <a:rPr sz="31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二选一</a:t>
            </a:r>
            <a:endParaRPr sz="31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2996183" y="3819144"/>
            <a:ext cx="6327648" cy="2785110"/>
            <a:chOff x="0" y="0"/>
            <a:chExt cx="6327648" cy="278511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327648" cy="2785110"/>
            </a:xfrm>
            <a:prstGeom prst="rect">
              <a:avLst/>
            </a:prstGeom>
          </p:spPr>
        </p:pic>
        <p:sp>
          <p:nvSpPr>
            <p:cNvPr id="6" name="rect 6"/>
            <p:cNvSpPr/>
            <p:nvPr/>
          </p:nvSpPr>
          <p:spPr>
            <a:xfrm>
              <a:off x="2185416" y="1143761"/>
              <a:ext cx="1837943" cy="1223772"/>
            </a:xfrm>
            <a:prstGeom prst="rect">
              <a:avLst/>
            </a:prstGeom>
            <a:solidFill>
              <a:srgbClr val="2CAB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" name="rect 8"/>
            <p:cNvSpPr/>
            <p:nvPr/>
          </p:nvSpPr>
          <p:spPr>
            <a:xfrm>
              <a:off x="335279" y="58673"/>
              <a:ext cx="5656325" cy="869441"/>
            </a:xfrm>
            <a:prstGeom prst="rect">
              <a:avLst/>
            </a:prstGeom>
            <a:solidFill>
              <a:srgbClr val="2CAB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" name="textbox 10"/>
            <p:cNvSpPr/>
            <p:nvPr/>
          </p:nvSpPr>
          <p:spPr>
            <a:xfrm>
              <a:off x="1068921" y="219456"/>
              <a:ext cx="4216400" cy="18103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3000"/>
                </a:lnSpc>
              </a:pPr>
              <a:r>
                <a:rPr sz="4300" b="1" kern="0" spc="-4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请选择您的语言</a:t>
              </a:r>
              <a:r>
                <a:rPr sz="4300" b="1" kern="0" spc="-35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 </a:t>
              </a:r>
              <a:r>
                <a:rPr sz="4300" b="1" kern="0" spc="-40" dirty="0">
                  <a:solidFill>
                    <a:srgbClr val="FFFF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:</a:t>
              </a:r>
              <a:endParaRPr sz="4300" dirty="0"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09370" algn="l" rtl="0" eaLnBrk="0">
                <a:lnSpc>
                  <a:spcPct val="80000"/>
                </a:lnSpc>
                <a:spcBef>
                  <a:spcPts val="0"/>
                </a:spcBef>
              </a:pPr>
              <a:r>
                <a:rPr sz="4000" b="1" kern="0" spc="-3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二选一</a:t>
              </a:r>
              <a:endParaRPr sz="4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大作业概览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1123289" y="1081532"/>
            <a:ext cx="9048115" cy="2410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94330" algn="l" rtl="0" eaLnBrk="0">
              <a:lnSpc>
                <a:spcPts val="4915"/>
              </a:lnSpc>
            </a:pPr>
            <a:r>
              <a:rPr sz="3600" kern="0" spc="-20" dirty="0">
                <a:solidFill>
                  <a:srgbClr val="1F497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3600" kern="0" spc="-20" dirty="0">
                <a:solidFill>
                  <a:srgbClr val="1F497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供参考</a:t>
            </a:r>
            <a:r>
              <a:rPr sz="3600" kern="0" spc="-20" dirty="0">
                <a:solidFill>
                  <a:srgbClr val="1F497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</a:t>
            </a:r>
            <a:r>
              <a:rPr sz="3600" kern="0" spc="-20" dirty="0">
                <a:solidFill>
                  <a:srgbClr val="1F497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可能有调整</a:t>
            </a:r>
            <a:r>
              <a:rPr sz="3600" kern="0" spc="-20" dirty="0">
                <a:solidFill>
                  <a:srgbClr val="1F497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540"/>
              </a:spcBef>
            </a:pPr>
            <a:r>
              <a:rPr sz="2700" b="1" kern="0" spc="1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04.24</a:t>
            </a:r>
            <a:r>
              <a:rPr sz="2700" b="1" kern="0" spc="10" baseline="40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（含</a:t>
            </a:r>
            <a:r>
              <a:rPr sz="2700" kern="0" spc="10" baseline="40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</a:t>
            </a: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05.1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                                 </a:t>
            </a:r>
            <a:r>
              <a:rPr sz="2700" b="1" kern="0" spc="0" baseline="-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06.10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b="1" kern="0" spc="0" baseline="-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b="1" kern="0" spc="0" baseline="-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06.12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06.28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68910" algn="l" rtl="0" eaLnBrk="0">
              <a:lnSpc>
                <a:spcPts val="2170"/>
              </a:lnSpc>
              <a:spcBef>
                <a:spcPts val="250"/>
              </a:spcBef>
            </a:pPr>
            <a:r>
              <a:rPr sz="2700" kern="0" spc="-30" baseline="60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完成组队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助教反馈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</a:t>
            </a:r>
            <a:r>
              <a:rPr sz="2700" kern="0" spc="-30" baseline="-30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课程路演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最终提交（毕业年级）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3668140" y="176885"/>
              <a:ext cx="48812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2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大作业安排时间线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sp>
        <p:nvSpPr>
          <p:cNvPr id="28" name="textbox 28"/>
          <p:cNvSpPr/>
          <p:nvPr/>
        </p:nvSpPr>
        <p:spPr>
          <a:xfrm>
            <a:off x="2713855" y="6220343"/>
            <a:ext cx="6887844" cy="397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2800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涉及提交的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DDL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都是截止当天晚上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23:59:59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4682591" y="4935956"/>
            <a:ext cx="1603375" cy="812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7010" algn="l" rtl="0" eaLnBrk="0">
              <a:lnSpc>
                <a:spcPct val="87000"/>
              </a:lnSpc>
            </a:pPr>
            <a:r>
              <a:rPr sz="1800" b="1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06.06</a:t>
            </a:r>
            <a:r>
              <a:rPr sz="1800" b="1" kern="0" spc="-1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（含）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algn="l" rtl="0" eaLnBrk="0">
              <a:lnSpc>
                <a:spcPct val="89000"/>
              </a:lnSpc>
              <a:spcBef>
                <a:spcPts val="29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提交初版</a:t>
            </a:r>
            <a:r>
              <a:rPr sz="1800" kern="0" spc="-3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录屏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6075" algn="l" rtl="0" eaLnBrk="0">
              <a:lnSpc>
                <a:spcPct val="87000"/>
              </a:lnSpc>
              <a:spcBef>
                <a:spcPts val="23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路演筛选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62686" y="4015059"/>
            <a:ext cx="10868578" cy="106516"/>
            <a:chOff x="0" y="0"/>
            <a:chExt cx="10868578" cy="106516"/>
          </a:xfrm>
        </p:grpSpPr>
        <p:sp>
          <p:nvSpPr>
            <p:cNvPr id="34" name="path 34"/>
            <p:cNvSpPr/>
            <p:nvPr/>
          </p:nvSpPr>
          <p:spPr>
            <a:xfrm>
              <a:off x="6350" y="4490"/>
              <a:ext cx="10857738" cy="97535"/>
            </a:xfrm>
            <a:custGeom>
              <a:avLst/>
              <a:gdLst/>
              <a:ahLst/>
              <a:cxnLst/>
              <a:rect l="0" t="0" r="0" b="0"/>
              <a:pathLst>
                <a:path w="17098" h="153">
                  <a:moveTo>
                    <a:pt x="0" y="38"/>
                  </a:moveTo>
                  <a:lnTo>
                    <a:pt x="17021" y="38"/>
                  </a:lnTo>
                  <a:lnTo>
                    <a:pt x="17021" y="0"/>
                  </a:lnTo>
                  <a:lnTo>
                    <a:pt x="17098" y="76"/>
                  </a:lnTo>
                  <a:lnTo>
                    <a:pt x="17021" y="153"/>
                  </a:lnTo>
                  <a:lnTo>
                    <a:pt x="17021" y="115"/>
                  </a:lnTo>
                  <a:lnTo>
                    <a:pt x="0" y="115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" name="path 36"/>
            <p:cNvSpPr/>
            <p:nvPr/>
          </p:nvSpPr>
          <p:spPr>
            <a:xfrm>
              <a:off x="0" y="0"/>
              <a:ext cx="10868578" cy="106516"/>
            </a:xfrm>
            <a:custGeom>
              <a:avLst/>
              <a:gdLst/>
              <a:ahLst/>
              <a:cxnLst/>
              <a:rect l="0" t="0" r="0" b="0"/>
              <a:pathLst>
                <a:path w="17115" h="167">
                  <a:moveTo>
                    <a:pt x="10" y="45"/>
                  </a:moveTo>
                  <a:lnTo>
                    <a:pt x="17031" y="45"/>
                  </a:lnTo>
                  <a:lnTo>
                    <a:pt x="17031" y="7"/>
                  </a:lnTo>
                  <a:lnTo>
                    <a:pt x="17108" y="83"/>
                  </a:lnTo>
                  <a:lnTo>
                    <a:pt x="17031" y="160"/>
                  </a:lnTo>
                  <a:lnTo>
                    <a:pt x="17031" y="122"/>
                  </a:lnTo>
                  <a:lnTo>
                    <a:pt x="10" y="122"/>
                  </a:lnTo>
                  <a:lnTo>
                    <a:pt x="10" y="45"/>
                  </a:ln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textbox 38"/>
          <p:cNvSpPr/>
          <p:nvPr/>
        </p:nvSpPr>
        <p:spPr>
          <a:xfrm>
            <a:off x="10456029" y="4992268"/>
            <a:ext cx="1350010" cy="797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5450" algn="l" rtl="0" eaLnBrk="0">
              <a:lnSpc>
                <a:spcPct val="70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07.06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0" indent="110490" algn="l" rtl="0" eaLnBrk="0">
              <a:lnSpc>
                <a:spcPct val="107000"/>
              </a:lnSpc>
              <a:spcBef>
                <a:spcPts val="335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最终提交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（非毕业级）</a:t>
            </a:r>
            <a:endParaRPr sz="1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990445" y="4935956"/>
            <a:ext cx="1195705" cy="812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05.04</a:t>
            </a:r>
            <a:r>
              <a:rPr sz="1800" b="1" kern="0" spc="-1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（含）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56845" indent="-5080" algn="l" rtl="0" eaLnBrk="0">
              <a:lnSpc>
                <a:spcPct val="93000"/>
              </a:lnSpc>
              <a:spcBef>
                <a:spcPts val="30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提交功能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设计文档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272585" y="4975504"/>
            <a:ext cx="115061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7500" algn="l" rtl="0" eaLnBrk="0">
              <a:lnSpc>
                <a:spcPct val="70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04.17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7000"/>
              </a:lnSpc>
              <a:spcBef>
                <a:spcPts val="340"/>
              </a:spcBef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发布大作业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7994242" y="4926050"/>
            <a:ext cx="989964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06.26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下午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2545" algn="l" rtl="0" eaLnBrk="0">
              <a:lnSpc>
                <a:spcPct val="87000"/>
              </a:lnSpc>
              <a:spcBef>
                <a:spcPts val="28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期末机考</a:t>
            </a:r>
            <a:endParaRPr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6" name="path 46"/>
          <p:cNvSpPr/>
          <p:nvPr/>
        </p:nvSpPr>
        <p:spPr>
          <a:xfrm>
            <a:off x="5949696" y="3544687"/>
            <a:ext cx="41909" cy="534433"/>
          </a:xfrm>
          <a:custGeom>
            <a:avLst/>
            <a:gdLst/>
            <a:ahLst/>
            <a:cxnLst/>
            <a:rect l="0" t="0" r="0" b="0"/>
            <a:pathLst>
              <a:path w="65" h="841">
                <a:moveTo>
                  <a:pt x="35" y="841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path 48"/>
          <p:cNvSpPr/>
          <p:nvPr/>
        </p:nvSpPr>
        <p:spPr>
          <a:xfrm>
            <a:off x="8983980" y="3528685"/>
            <a:ext cx="41909" cy="534433"/>
          </a:xfrm>
          <a:custGeom>
            <a:avLst/>
            <a:gdLst/>
            <a:ahLst/>
            <a:cxnLst/>
            <a:rect l="0" t="0" r="0" b="0"/>
            <a:pathLst>
              <a:path w="65" h="841">
                <a:moveTo>
                  <a:pt x="35" y="841"/>
                </a:moveTo>
                <a:lnTo>
                  <a:pt x="30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path 50"/>
          <p:cNvSpPr/>
          <p:nvPr/>
        </p:nvSpPr>
        <p:spPr>
          <a:xfrm>
            <a:off x="6244590" y="3544687"/>
            <a:ext cx="41909" cy="534433"/>
          </a:xfrm>
          <a:custGeom>
            <a:avLst/>
            <a:gdLst/>
            <a:ahLst/>
            <a:cxnLst/>
            <a:rect l="0" t="0" r="0" b="0"/>
            <a:pathLst>
              <a:path w="65" h="841">
                <a:moveTo>
                  <a:pt x="35" y="841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path 52"/>
          <p:cNvSpPr/>
          <p:nvPr/>
        </p:nvSpPr>
        <p:spPr>
          <a:xfrm>
            <a:off x="819912" y="4057513"/>
            <a:ext cx="41909" cy="534433"/>
          </a:xfrm>
          <a:custGeom>
            <a:avLst/>
            <a:gdLst/>
            <a:ahLst/>
            <a:cxnLst/>
            <a:rect l="0" t="0" r="0" b="0"/>
            <a:pathLst>
              <a:path w="65" h="841">
                <a:moveTo>
                  <a:pt x="35" y="841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path 54"/>
          <p:cNvSpPr/>
          <p:nvPr/>
        </p:nvSpPr>
        <p:spPr>
          <a:xfrm>
            <a:off x="1620012" y="3507350"/>
            <a:ext cx="41908" cy="534433"/>
          </a:xfrm>
          <a:custGeom>
            <a:avLst/>
            <a:gdLst/>
            <a:ahLst/>
            <a:cxnLst/>
            <a:rect l="0" t="0" r="0" b="0"/>
            <a:pathLst>
              <a:path w="65" h="841">
                <a:moveTo>
                  <a:pt x="35" y="841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5463540" y="4087231"/>
            <a:ext cx="41909" cy="533672"/>
          </a:xfrm>
          <a:custGeom>
            <a:avLst/>
            <a:gdLst/>
            <a:ahLst/>
            <a:cxnLst/>
            <a:rect l="0" t="0" r="0" b="0"/>
            <a:pathLst>
              <a:path w="65" h="840">
                <a:moveTo>
                  <a:pt x="35" y="840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path 58"/>
          <p:cNvSpPr/>
          <p:nvPr/>
        </p:nvSpPr>
        <p:spPr>
          <a:xfrm>
            <a:off x="8465820" y="4068181"/>
            <a:ext cx="41909" cy="533672"/>
          </a:xfrm>
          <a:custGeom>
            <a:avLst/>
            <a:gdLst/>
            <a:ahLst/>
            <a:cxnLst/>
            <a:rect l="0" t="0" r="0" b="0"/>
            <a:pathLst>
              <a:path w="65" h="840">
                <a:moveTo>
                  <a:pt x="35" y="840"/>
                </a:moveTo>
                <a:lnTo>
                  <a:pt x="30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path 60"/>
          <p:cNvSpPr/>
          <p:nvPr/>
        </p:nvSpPr>
        <p:spPr>
          <a:xfrm>
            <a:off x="3188970" y="3534781"/>
            <a:ext cx="41908" cy="533672"/>
          </a:xfrm>
          <a:custGeom>
            <a:avLst/>
            <a:gdLst/>
            <a:ahLst/>
            <a:cxnLst/>
            <a:rect l="0" t="0" r="0" b="0"/>
            <a:pathLst>
              <a:path w="65" h="840">
                <a:moveTo>
                  <a:pt x="35" y="840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2577084" y="4087231"/>
            <a:ext cx="41908" cy="533672"/>
          </a:xfrm>
          <a:custGeom>
            <a:avLst/>
            <a:gdLst/>
            <a:ahLst/>
            <a:cxnLst/>
            <a:rect l="0" t="0" r="0" b="0"/>
            <a:pathLst>
              <a:path w="65" h="840">
                <a:moveTo>
                  <a:pt x="35" y="840"/>
                </a:moveTo>
                <a:lnTo>
                  <a:pt x="29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path 64"/>
          <p:cNvSpPr/>
          <p:nvPr/>
        </p:nvSpPr>
        <p:spPr>
          <a:xfrm>
            <a:off x="11111483" y="4094879"/>
            <a:ext cx="41147" cy="533617"/>
          </a:xfrm>
          <a:custGeom>
            <a:avLst/>
            <a:gdLst/>
            <a:ahLst/>
            <a:cxnLst/>
            <a:rect l="0" t="0" r="0" b="0"/>
            <a:pathLst>
              <a:path w="64" h="840">
                <a:moveTo>
                  <a:pt x="34" y="840"/>
                </a:moveTo>
                <a:lnTo>
                  <a:pt x="30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6"/>
          <p:cNvSpPr/>
          <p:nvPr/>
        </p:nvSpPr>
        <p:spPr>
          <a:xfrm>
            <a:off x="343001" y="1117041"/>
            <a:ext cx="11932284" cy="519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34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3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400" b="1" kern="0" spc="-2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组队事宜：</a:t>
            </a:r>
            <a:endParaRPr sz="3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67665" algn="l" rtl="0" eaLnBrk="0">
              <a:lnSpc>
                <a:spcPct val="87000"/>
              </a:lnSpc>
              <a:spcBef>
                <a:spcPts val="1665"/>
              </a:spcBef>
            </a:pPr>
            <a:r>
              <a:rPr sz="28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r>
              <a:rPr sz="2800" kern="0" spc="-1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-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r>
              <a:rPr sz="2800" kern="0" spc="-1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日前完成组队。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1045" indent="-373380" algn="l" rtl="0" eaLnBrk="0">
              <a:lnSpc>
                <a:spcPct val="105000"/>
              </a:lnSpc>
              <a:spcBef>
                <a:spcPts val="1620"/>
              </a:spcBef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人一队（可以跨班组队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），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确定队名和队长，由</a:t>
            </a:r>
            <a:r>
              <a:rPr sz="2800" b="1" kern="0" spc="-10" dirty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队长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填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写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sz="2800" u="sng" kern="0" spc="-50" dirty="0">
                <a:solidFill>
                  <a:srgbClr val="0563C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https://</a:t>
            </a:r>
            <a:r>
              <a:rPr sz="2800" u="sng" kern="0" spc="-60" dirty="0">
                <a:solidFill>
                  <a:srgbClr val="0563C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v.wjx.cn/vm/rWUcsmW.aspx#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），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队员请勿重复填写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67665" algn="l" rtl="0" eaLnBrk="0">
              <a:lnSpc>
                <a:spcPct val="89000"/>
              </a:lnSpc>
              <a:spcBef>
                <a:spcPts val="1495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如果有同学不打算自己组队，想等助教分配</a:t>
            </a:r>
            <a:r>
              <a:rPr sz="2800" kern="0" spc="-5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包括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人组想要补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26440" algn="l" rtl="0" eaLnBrk="0">
              <a:lnSpc>
                <a:spcPct val="87000"/>
              </a:lnSpc>
              <a:spcBef>
                <a:spcPts val="355"/>
              </a:spcBef>
            </a:pPr>
            <a:r>
              <a:rPr sz="2800" b="1" kern="0" spc="-10" dirty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也需要填写问卷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，并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在问卷的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</a:t>
            </a:r>
            <a:r>
              <a:rPr sz="2800" kern="0" spc="3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队伍名称里标注“希望助教帮忙分配”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0410" indent="-372745" algn="l" rtl="0" eaLnBrk="0">
              <a:lnSpc>
                <a:spcPct val="91000"/>
              </a:lnSpc>
              <a:spcBef>
                <a:spcPts val="180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确认分组后，每支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队伍会分配负责助教，具体对接项目立项检查、环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节沟通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3285" indent="-515620" algn="l" rtl="0" eaLnBrk="0">
              <a:lnSpc>
                <a:spcPct val="93000"/>
              </a:lnSpc>
            </a:pP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关于组队有任何其他问题，请发邮件联系负责助教董凡可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【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dongfanke00@stu.p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ku.edu.cn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】</a:t>
            </a:r>
            <a:r>
              <a:rPr sz="2800" kern="0" spc="-6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确认。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70" name="textbox 70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大作业安排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6"/>
          <p:cNvSpPr/>
          <p:nvPr/>
        </p:nvSpPr>
        <p:spPr>
          <a:xfrm>
            <a:off x="343001" y="1117041"/>
            <a:ext cx="11170284" cy="345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34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3400" b="1" kern="0" spc="-1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项目节点：</a:t>
            </a:r>
            <a:endParaRPr sz="3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21995" indent="-354330" algn="l" rtl="0" eaLnBrk="0">
              <a:lnSpc>
                <a:spcPct val="93000"/>
              </a:lnSpc>
              <a:spcBef>
                <a:spcPts val="1100"/>
              </a:spcBef>
            </a:pP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</a:t>
            </a:r>
            <a:r>
              <a:rPr sz="2800" b="1" kern="0" spc="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800" b="1" kern="0" spc="2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页项目功能设计文档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提交相应负责助教</a:t>
            </a:r>
            <a:r>
              <a:rPr lang="zh-CN"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zh-CN" altLang="en-US"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邹宜轩</a:t>
            </a:r>
            <a:r>
              <a:rPr lang="zh-CN"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，以确认功能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设计合理性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67665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kern="0" spc="-5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助教将进行反馈沟通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67665" algn="l" rtl="0" eaLnBrk="0">
              <a:lnSpc>
                <a:spcPct val="89000"/>
              </a:lnSpc>
              <a:spcBef>
                <a:spcPts val="1050"/>
              </a:spcBef>
            </a:pP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提交初版</a:t>
            </a:r>
            <a:r>
              <a:rPr sz="2800" kern="0" spc="-6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录屏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，进行路演筛选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67665" algn="l" rtl="0" eaLnBrk="0">
              <a:lnSpc>
                <a:spcPct val="87000"/>
              </a:lnSpc>
              <a:spcBef>
                <a:spcPts val="955"/>
              </a:spcBef>
            </a:pP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10/12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课程上进行路演的队伍将有加分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7665" algn="l" rtl="0" eaLnBrk="0">
              <a:lnSpc>
                <a:spcPct val="89000"/>
              </a:lnSpc>
              <a:spcBef>
                <a:spcPts val="5"/>
              </a:spcBef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kern="0" spc="-6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800" kern="0" spc="2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最终项目</a:t>
            </a:r>
            <a:r>
              <a:rPr sz="2800" kern="0" spc="-6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(GitHub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链接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提交（毕业年级为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日）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大作业安排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84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6"/>
          <p:cNvSpPr/>
          <p:nvPr/>
        </p:nvSpPr>
        <p:spPr>
          <a:xfrm>
            <a:off x="343001" y="1117041"/>
            <a:ext cx="9614534" cy="5032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500" kern="0" spc="-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提交内容：</a:t>
            </a:r>
            <a:endParaRPr sz="3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72110" algn="l" rtl="0" eaLnBrk="0">
              <a:lnSpc>
                <a:spcPct val="89000"/>
              </a:lnSpc>
              <a:spcBef>
                <a:spcPts val="1080"/>
              </a:spcBef>
            </a:pP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</a:t>
            </a:r>
            <a:r>
              <a:rPr sz="2800" b="1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作业报告</a:t>
            </a:r>
            <a:r>
              <a:rPr sz="2800" kern="0" spc="-5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800" b="1" kern="0" spc="-9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r>
              <a:rPr sz="2800" b="1" kern="0" spc="-9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页以内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，需要包含以下内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容：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855980" algn="l" rtl="0" eaLnBrk="0">
              <a:lnSpc>
                <a:spcPct val="89000"/>
              </a:lnSpc>
              <a:spcBef>
                <a:spcPts val="970"/>
              </a:spcBef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(1)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程序功能介绍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855980" algn="l" rtl="0" eaLnBrk="0">
              <a:lnSpc>
                <a:spcPct val="89000"/>
              </a:lnSpc>
              <a:spcBef>
                <a:spcPts val="970"/>
              </a:spcBef>
            </a:pP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(2)</a:t>
            </a:r>
            <a:r>
              <a:rPr sz="2800" kern="0" spc="2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项目各模块与类设计细节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855980" algn="l" rtl="0" eaLnBrk="0">
              <a:lnSpc>
                <a:spcPct val="89000"/>
              </a:lnSpc>
              <a:spcBef>
                <a:spcPts val="970"/>
              </a:spcBef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(3)</a:t>
            </a:r>
            <a:r>
              <a:rPr sz="2800" kern="0" spc="4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小组成员分工情况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855980" algn="l" rtl="0" eaLnBrk="0">
              <a:lnSpc>
                <a:spcPct val="89000"/>
              </a:lnSpc>
              <a:spcBef>
                <a:spcPts val="970"/>
              </a:spcBef>
            </a:pPr>
            <a:r>
              <a:rPr sz="2800" kern="0" spc="-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(4)</a:t>
            </a:r>
            <a:r>
              <a:rPr sz="28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1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项目总结与反思。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r" rtl="0" eaLnBrk="0">
              <a:lnSpc>
                <a:spcPct val="89000"/>
              </a:lnSpc>
              <a:spcBef>
                <a:spcPts val="970"/>
              </a:spcBef>
            </a:pPr>
            <a:r>
              <a:rPr sz="2800" b="1" kern="0" spc="-5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命名方式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组号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作业报告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.pdf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",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例如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"1-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作业报告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.pdf"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56870" algn="l" rtl="0" eaLnBrk="0">
              <a:lnSpc>
                <a:spcPct val="87000"/>
              </a:lnSpc>
              <a:spcBef>
                <a:spcPts val="955"/>
              </a:spcBef>
            </a:pPr>
            <a:r>
              <a:rPr sz="2800" b="1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2800" b="1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程序源代码</a:t>
            </a:r>
            <a:r>
              <a:rPr sz="2800" kern="0" spc="-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公开地址文件，即内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容为源代码网址，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843280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b="1" kern="0" spc="-1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命名方式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sz="2800" kern="0" spc="-4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组号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源代码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.txt",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例如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"1-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源代码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.txt"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4330" algn="l" rtl="0" eaLnBrk="0">
              <a:lnSpc>
                <a:spcPct val="87000"/>
              </a:lnSpc>
            </a:pP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</a:t>
            </a:r>
            <a:r>
              <a:rPr sz="2800" b="1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展示程序实际运行的录屏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90" name="textbox 90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大作业安排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6"/>
          <p:cNvSpPr/>
          <p:nvPr/>
        </p:nvSpPr>
        <p:spPr>
          <a:xfrm>
            <a:off x="343001" y="1117041"/>
            <a:ext cx="11228069" cy="4463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500" kern="0" spc="-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提交内容：</a:t>
            </a:r>
            <a:endParaRPr sz="3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72110" algn="l" rtl="0" eaLnBrk="0">
              <a:lnSpc>
                <a:spcPct val="87000"/>
              </a:lnSpc>
              <a:spcBef>
                <a:spcPts val="1065"/>
              </a:spcBef>
            </a:pP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</a:t>
            </a:r>
            <a:r>
              <a:rPr sz="2800" b="1" kern="0" spc="3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作业报告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56870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2800" b="1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程序源代码公开地址文件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54330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</a:t>
            </a:r>
            <a:r>
              <a:rPr sz="2800" b="1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展示程序实际运行的录屏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65555" indent="-502285" algn="l" rtl="0" eaLnBrk="0">
              <a:lnSpc>
                <a:spcPct val="95000"/>
              </a:lnSpc>
              <a:spcBef>
                <a:spcPts val="1020"/>
              </a:spcBef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(1)</a:t>
            </a:r>
            <a:r>
              <a:rPr sz="2800" kern="0" spc="3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录屏时长控制在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</a:t>
            </a:r>
            <a:r>
              <a:rPr sz="2800" kern="0" spc="-60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暂定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800" b="1" kern="0" spc="47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以后续具体通知为准</a:t>
            </a:r>
            <a:r>
              <a:rPr sz="2800" b="1" kern="0" spc="-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以内，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格式为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mp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或者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mkv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763270" algn="l" rtl="0" eaLnBrk="0">
              <a:lnSpc>
                <a:spcPct val="89000"/>
              </a:lnSpc>
              <a:spcBef>
                <a:spcPts val="970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(2)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展示程序的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所有功</a:t>
            </a:r>
            <a:r>
              <a:rPr sz="2800" b="1" kern="0" spc="-1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能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，并配上</a:t>
            </a:r>
            <a:r>
              <a:rPr sz="2800" b="1" kern="0" spc="-1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语音讲解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63270" algn="l" rtl="0" eaLnBrk="0">
              <a:lnSpc>
                <a:spcPct val="89000"/>
              </a:lnSpc>
              <a:spcBef>
                <a:spcPts val="970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(3)</a:t>
            </a:r>
            <a:r>
              <a:rPr sz="2800" kern="0" spc="5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命名方式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组号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演示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.[mp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4/mkv]",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例如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"1-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演示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.mp4“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algn="l" rtl="0" eaLnBrk="0">
              <a:lnSpc>
                <a:spcPct val="89000"/>
              </a:lnSpc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(4)</a:t>
            </a:r>
            <a:r>
              <a:rPr sz="28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kern="0" spc="-5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发送至负责助教的邮箱，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或发送北大网盘的链接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98" name="picture 9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100" name="textbox 100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大作业安排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02" name="picture 10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52288" y="3637025"/>
            <a:ext cx="6397752" cy="24003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343001" y="1117041"/>
            <a:ext cx="6559550" cy="2019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500" kern="0" spc="-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提交内容：</a:t>
            </a:r>
            <a:endParaRPr sz="3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72110" algn="l" rtl="0" eaLnBrk="0">
              <a:lnSpc>
                <a:spcPct val="87000"/>
              </a:lnSpc>
              <a:spcBef>
                <a:spcPts val="1065"/>
              </a:spcBef>
            </a:pP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</a:t>
            </a:r>
            <a:r>
              <a:rPr sz="2800" b="1" kern="0" spc="3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作业报告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56870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2800" b="1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程序源代码公开地址文件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</a:t>
            </a:r>
            <a:r>
              <a:rPr sz="2800" b="1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展示程序实际运行的录屏</a:t>
            </a:r>
            <a:r>
              <a:rPr sz="2800" kern="0" spc="-5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(06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2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800" b="1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r>
              <a:rPr sz="2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110" name="picture 1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112" name="textbox 112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大作业安排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sp>
        <p:nvSpPr>
          <p:cNvPr id="116" name="textbox 116"/>
          <p:cNvSpPr/>
          <p:nvPr/>
        </p:nvSpPr>
        <p:spPr>
          <a:xfrm>
            <a:off x="332593" y="3740829"/>
            <a:ext cx="4916804" cy="1905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" algn="l" rtl="0" eaLnBrk="0">
              <a:lnSpc>
                <a:spcPct val="88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最终提交</a:t>
            </a:r>
            <a:r>
              <a:rPr sz="2800" kern="0" spc="-5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(6.28/7.06)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6035" algn="l" rtl="0" eaLnBrk="0">
              <a:lnSpc>
                <a:spcPct val="87000"/>
              </a:lnSpc>
              <a:spcBef>
                <a:spcPts val="995"/>
              </a:spcBef>
            </a:pP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发给助教一个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GitHub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上的链接，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algn="l" rtl="0" eaLnBrk="0">
              <a:lnSpc>
                <a:spcPts val="3960"/>
              </a:lnSpc>
            </a:pPr>
            <a:r>
              <a:rPr sz="2800" kern="0" spc="-1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助教从这个链接可以下载到：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655" algn="l" rtl="0" eaLnBrk="0">
              <a:lnSpc>
                <a:spcPct val="87000"/>
              </a:lnSpc>
            </a:pPr>
            <a:r>
              <a:rPr sz="2800" b="1" kern="0" spc="-4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源代码</a:t>
            </a:r>
            <a:r>
              <a:rPr sz="2800" b="1" kern="0" spc="-4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2800" b="1" kern="0" spc="-4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作业报告</a:t>
            </a:r>
            <a:r>
              <a:rPr sz="2800" b="1" kern="0" spc="-4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800" b="1" kern="0" spc="28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b="1" kern="0" spc="-4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演示视频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/>
          <p:cNvSpPr/>
          <p:nvPr/>
        </p:nvSpPr>
        <p:spPr>
          <a:xfrm>
            <a:off x="337630" y="1104275"/>
            <a:ext cx="11507469" cy="4846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选题开放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563245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生活类：具有比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较强的实用性，鼓励功能贴近日常生活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563245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游戏类：具有比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较强的创意性，不鼓励比拼绚丽的界面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003935" indent="-440690" algn="l" rtl="0" eaLnBrk="0">
              <a:lnSpc>
                <a:spcPct val="93000"/>
              </a:lnSpc>
              <a:spcBef>
                <a:spcPts val="1070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元学习：辅助程设学习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的应用或者游戏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优秀项目可作为未来程设的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辅助教学工具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963295" algn="l" rtl="0" eaLnBrk="0">
              <a:lnSpc>
                <a:spcPct val="90000"/>
              </a:lnSpc>
              <a:spcBef>
                <a:spcPts val="102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为魔兽世界终极版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打造炫酷图形界面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实用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debug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工具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963295" algn="l" rtl="0" eaLnBrk="0">
              <a:lnSpc>
                <a:spcPct val="87000"/>
              </a:lnSpc>
              <a:spcBef>
                <a:spcPts val="950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普通类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封闭类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派生类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多态基类等类的内存空间可视化交互工具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963295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一个攻克程设某一节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课知识点的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RPG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闯关游戏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963295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魔法门之英雄无敌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</a:t>
            </a: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多态与虚函数提升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程序可扩充性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3295" algn="l" rtl="0" eaLnBrk="0">
              <a:lnSpc>
                <a:spcPct val="87000"/>
              </a:lnSpc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更多的奇思妙想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122" name="picture 1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124" name="textbox 124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大作业要求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26" name="picture 1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128" name="picture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30"/>
          <p:cNvSpPr/>
          <p:nvPr/>
        </p:nvSpPr>
        <p:spPr>
          <a:xfrm>
            <a:off x="337630" y="1104275"/>
            <a:ext cx="11516994" cy="284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大作业需要实现</a:t>
            </a:r>
            <a:r>
              <a:rPr sz="2800" b="1" kern="0" spc="-6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界面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3390" indent="-440690" algn="l" rtl="0" eaLnBrk="0">
              <a:lnSpc>
                <a:spcPct val="95000"/>
              </a:lnSpc>
              <a:spcBef>
                <a:spcPts val="1020"/>
              </a:spcBef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大作业</a:t>
            </a:r>
            <a:r>
              <a:rPr sz="2800" b="1" kern="0" spc="-1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不鼓励堆叠代码量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，有效代码原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则上不超过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2000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行，超过部分不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会在评估大作业时加分</a:t>
            </a:r>
            <a:r>
              <a:rPr sz="2800" kern="0" spc="-6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评估工作量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也不仅仅是只看代码量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7000"/>
              </a:lnSpc>
              <a:spcBef>
                <a:spcPts val="95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项目使用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GitHub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进行代码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组织，方便队内合作开发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项目要求代码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公开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，请务必注意代码的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原创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评分综合考虑</a:t>
            </a:r>
            <a:r>
              <a:rPr sz="2800" b="1" u="sng" kern="0" spc="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创意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sz="2800" b="1" u="sng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功能完成度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sz="2800" b="1" u="sng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代码组织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sz="2800" b="1" u="sng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实用性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sz="2800" b="1" u="sng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界面美观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等因素</a:t>
            </a:r>
            <a:endParaRPr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381" y="0"/>
            <a:ext cx="12189332" cy="1051559"/>
            <a:chOff x="0" y="0"/>
            <a:chExt cx="12189332" cy="1051559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51559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4582540" y="176885"/>
              <a:ext cx="3052445" cy="655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4800" kern="0" spc="-30" dirty="0">
                  <a:solidFill>
                    <a:srgbClr val="1F497C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大作业要求</a:t>
              </a:r>
              <a:endParaRPr sz="4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89332" cy="80771"/>
            </a:xfrm>
            <a:prstGeom prst="rect">
              <a:avLst/>
            </a:prstGeom>
          </p:spPr>
        </p:pic>
      </p:grpSp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81" y="0"/>
            <a:ext cx="12189332" cy="6534911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6625772" y="1182725"/>
            <a:ext cx="4871084" cy="3850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6910" algn="l" rtl="0" eaLnBrk="0">
              <a:lnSpc>
                <a:spcPct val="76000"/>
              </a:lnSpc>
            </a:pPr>
            <a:r>
              <a:rPr sz="36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Python</a:t>
            </a:r>
            <a:endParaRPr sz="3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7200" indent="-444500" algn="l" rtl="0" eaLnBrk="0">
              <a:lnSpc>
                <a:spcPct val="101000"/>
              </a:lnSpc>
              <a:spcBef>
                <a:spcPts val="1165"/>
              </a:spcBef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Tkinter</a:t>
            </a:r>
            <a:r>
              <a:rPr sz="2500" kern="0" spc="-3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PyQt</a:t>
            </a:r>
            <a:r>
              <a:rPr sz="2500" kern="0" spc="-3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Kivy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等，不限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定用于搭建界面的库，但</a:t>
            </a:r>
            <a:r>
              <a:rPr sz="2500" b="1" kern="0" spc="90" dirty="0">
                <a:solidFill>
                  <a:srgbClr val="C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不能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使用网页界面</a:t>
            </a:r>
            <a:r>
              <a:rPr sz="2500" kern="0" spc="-4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即搭建一个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web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demo</a:t>
            </a:r>
            <a:r>
              <a:rPr sz="2500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66090" indent="-453390" algn="l" rtl="0" eaLnBrk="0">
              <a:lnSpc>
                <a:spcPct val="97000"/>
              </a:lnSpc>
              <a:spcBef>
                <a:spcPts val="915"/>
              </a:spcBef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</a:t>
            </a:r>
            <a:r>
              <a:rPr sz="2500" kern="0" spc="-5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Python</a:t>
            </a:r>
            <a:r>
              <a:rPr sz="25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面向对象的方法完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成本次项目</a:t>
            </a:r>
            <a:endParaRPr sz="2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6885" indent="-464820" algn="l" rtl="0" eaLnBrk="0">
              <a:lnSpc>
                <a:spcPct val="95000"/>
              </a:lnSpc>
              <a:spcBef>
                <a:spcPts val="5"/>
              </a:spcBef>
            </a:pP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鼓励写注释提高代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码可读性和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可维护性</a:t>
            </a:r>
            <a:endParaRPr sz="2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639533" y="1175867"/>
            <a:ext cx="4856479" cy="3857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89125" algn="l" rtl="0" eaLnBrk="0">
              <a:lnSpc>
                <a:spcPct val="69000"/>
              </a:lnSpc>
            </a:pPr>
            <a:r>
              <a:rPr sz="36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C++</a:t>
            </a:r>
            <a:endParaRPr sz="3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4660" indent="-441960" algn="l" rtl="0" eaLnBrk="0">
              <a:lnSpc>
                <a:spcPct val="99000"/>
              </a:lnSpc>
              <a:spcBef>
                <a:spcPts val="1480"/>
              </a:spcBef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</a:t>
            </a:r>
            <a:r>
              <a:rPr sz="2500" kern="0" spc="-4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QT</a:t>
            </a:r>
            <a:r>
              <a:rPr sz="2500" b="1" kern="0" spc="2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完成界面搭建，要求</a:t>
            </a: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界面简洁、易用，至少包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含多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个窗口或对话框</a:t>
            </a:r>
            <a:endParaRPr sz="2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76250" indent="-463550" algn="l" rtl="0" eaLnBrk="0">
              <a:lnSpc>
                <a:spcPct val="99000"/>
              </a:lnSpc>
              <a:spcBef>
                <a:spcPts val="1050"/>
              </a:spcBef>
            </a:pP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</a:t>
            </a:r>
            <a:r>
              <a:rPr sz="2500" kern="0" spc="-5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C++</a:t>
            </a:r>
            <a:r>
              <a:rPr sz="25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面向对象的方法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完成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本次项目，合理规划组织各个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sz="2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6885" indent="-464820" algn="l" rtl="0" eaLnBrk="0">
              <a:lnSpc>
                <a:spcPct val="95000"/>
              </a:lnSpc>
              <a:spcBef>
                <a:spcPts val="5"/>
              </a:spcBef>
            </a:pP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鼓励写注释提高代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码可读性和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可维护性</a:t>
            </a:r>
            <a:endParaRPr sz="2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4582921" y="176885"/>
            <a:ext cx="3052445" cy="655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800" kern="0" spc="-30" dirty="0">
                <a:solidFill>
                  <a:srgbClr val="1F497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大作业要求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1" y="6713219"/>
            <a:ext cx="12189332" cy="144018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" y="0"/>
            <a:ext cx="12189332" cy="80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 152"/>
          <p:cNvSpPr/>
          <p:nvPr/>
        </p:nvSpPr>
        <p:spPr>
          <a:xfrm>
            <a:off x="381" y="0"/>
            <a:ext cx="12189332" cy="6857238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381" y="0"/>
            <a:ext cx="12189332" cy="1064514"/>
            <a:chOff x="0" y="0"/>
            <a:chExt cx="12189332" cy="1064514"/>
          </a:xfrm>
        </p:grpSpPr>
        <p:pic>
          <p:nvPicPr>
            <p:cNvPr id="154" name="picture 1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89332" cy="1064514"/>
            </a:xfrm>
            <a:prstGeom prst="rect">
              <a:avLst/>
            </a:prstGeom>
          </p:spPr>
        </p:pic>
        <p:sp>
          <p:nvSpPr>
            <p:cNvPr id="156" name="textbox 156"/>
            <p:cNvSpPr/>
            <p:nvPr/>
          </p:nvSpPr>
          <p:spPr>
            <a:xfrm>
              <a:off x="-12700" y="-12700"/>
              <a:ext cx="12214859" cy="1090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567035" algn="l" rtl="0" eaLnBrk="0">
                <a:lnSpc>
                  <a:spcPts val="1685"/>
                </a:lnSpc>
                <a:spcBef>
                  <a:spcPts val="5"/>
                </a:spcBef>
              </a:pPr>
              <a:r>
                <a:rPr sz="1300" kern="0" spc="-7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《程序设计实习》</a:t>
              </a:r>
              <a:endParaRPr sz="13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42466" y="1958339"/>
            <a:ext cx="3080004" cy="3133344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4198797" y="2725851"/>
            <a:ext cx="4496434" cy="2007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830"/>
              </a:lnSpc>
            </a:pPr>
            <a:r>
              <a:rPr sz="5400" b="1" kern="0" spc="-3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期中考试顺利</a:t>
            </a:r>
            <a:r>
              <a:rPr sz="5400" b="1" kern="0" spc="-30" dirty="0">
                <a:solidFill>
                  <a:srgbClr val="FFFF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</a:t>
            </a:r>
            <a:endParaRPr sz="54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 rtl="0" eaLnBrk="0">
              <a:lnSpc>
                <a:spcPct val="101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830"/>
              </a:lnSpc>
            </a:pPr>
            <a:r>
              <a:rPr sz="5400" b="1" kern="0" spc="-2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五一假期快乐</a:t>
            </a:r>
            <a:r>
              <a:rPr sz="5400" b="1" kern="0" spc="-36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5400" b="1" kern="0" spc="-220" dirty="0">
                <a:solidFill>
                  <a:srgbClr val="FFFF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</a:t>
            </a:r>
            <a:endParaRPr sz="54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11472011" y="6414692"/>
            <a:ext cx="387984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130</a:t>
            </a:r>
            <a:endParaRPr sz="18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2076</Words>
  <Application>WPS 演示</Application>
  <PresentationFormat/>
  <Paragraphs>157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楷体</vt:lpstr>
      <vt:lpstr>Times New Roman</vt:lpstr>
      <vt:lpstr>等线</vt:lpstr>
      <vt:lpstr>Consolas</vt:lpstr>
      <vt:lpstr>黑体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- 2026_第12讲-QT编程.pptx</dc:title>
  <dc:creator>pkuwi</dc:creator>
  <cp:lastModifiedBy>赵冠钧</cp:lastModifiedBy>
  <cp:revision>1</cp:revision>
  <dcterms:created xsi:type="dcterms:W3CDTF">2026-05-02T08:01:09Z</dcterms:created>
  <dcterms:modified xsi:type="dcterms:W3CDTF">2026-05-02T08:01:09Z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2026-05-02T15:52:19Z</vt:filetime>
  </property>
  <property fmtid="{D5CDD505-2E9C-101B-9397-08002B2CF9AE}" pid="4" name="ICV">
    <vt:lpwstr>C6DD1EE0963846C1B510073F5DC1AD41_12</vt:lpwstr>
  </property>
  <property fmtid="{D5CDD505-2E9C-101B-9397-08002B2CF9AE}" pid="5" name="KSOProductBuildVer">
    <vt:lpwstr>2052-12.1.0.23542</vt:lpwstr>
  </property>
</Properties>
</file>